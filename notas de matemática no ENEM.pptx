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eague Spartan" charset="1" panose="00000800000000000000"/>
      <p:regular r:id="rId18"/>
    </p:embeddedFont>
    <p:embeddedFont>
      <p:font typeface="TT Chocolates Bold" charset="1" panose="02000803020000020003"/>
      <p:regular r:id="rId19"/>
    </p:embeddedFont>
    <p:embeddedFont>
      <p:font typeface="TT Chocolates" charset="1" panose="02000503020000020003"/>
      <p:regular r:id="rId20"/>
    </p:embeddedFont>
    <p:embeddedFont>
      <p:font typeface="TT Chocolates Bold Italics" charset="1" panose="02000803030000090003"/>
      <p:regular r:id="rId21"/>
    </p:embeddedFont>
    <p:embeddedFont>
      <p:font typeface="Open Sans Bold" charset="1" panose="020B08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Relationship Id="rId8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Relationship Id="rId8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17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Relationship Id="rId6" Target="../media/image22.jpeg" Type="http://schemas.openxmlformats.org/officeDocument/2006/relationships/image"/><Relationship Id="rId7" Target="../media/image23.jpeg" Type="http://schemas.openxmlformats.org/officeDocument/2006/relationships/image"/><Relationship Id="rId8" Target="../media/image2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9408" y="-736581"/>
            <a:ext cx="8038592" cy="11760162"/>
          </a:xfrm>
          <a:custGeom>
            <a:avLst/>
            <a:gdLst/>
            <a:ahLst/>
            <a:cxnLst/>
            <a:rect r="r" b="b" t="t" l="l"/>
            <a:pathLst>
              <a:path h="11760162" w="8038592">
                <a:moveTo>
                  <a:pt x="0" y="0"/>
                </a:moveTo>
                <a:lnTo>
                  <a:pt x="8038592" y="0"/>
                </a:lnTo>
                <a:lnTo>
                  <a:pt x="8038592" y="11760162"/>
                </a:lnTo>
                <a:lnTo>
                  <a:pt x="0" y="11760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62693" y="343497"/>
            <a:ext cx="9612022" cy="9600007"/>
          </a:xfrm>
          <a:custGeom>
            <a:avLst/>
            <a:gdLst/>
            <a:ahLst/>
            <a:cxnLst/>
            <a:rect r="r" b="b" t="t" l="l"/>
            <a:pathLst>
              <a:path h="9600007" w="9612022">
                <a:moveTo>
                  <a:pt x="0" y="0"/>
                </a:moveTo>
                <a:lnTo>
                  <a:pt x="9612022" y="0"/>
                </a:lnTo>
                <a:lnTo>
                  <a:pt x="9612022" y="9600006"/>
                </a:lnTo>
                <a:lnTo>
                  <a:pt x="0" y="96000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49408" y="779227"/>
            <a:ext cx="8479073" cy="8479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505" t="0" r="-505" b="0"/>
              </a:stretch>
            </a:blipFill>
            <a:ln w="238125" cap="sq">
              <a:solidFill>
                <a:srgbClr val="0276DB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2686480" y="6571940"/>
            <a:ext cx="12935888" cy="1622866"/>
          </a:xfrm>
          <a:custGeom>
            <a:avLst/>
            <a:gdLst/>
            <a:ahLst/>
            <a:cxnLst/>
            <a:rect r="r" b="b" t="t" l="l"/>
            <a:pathLst>
              <a:path h="1622866" w="12935888">
                <a:moveTo>
                  <a:pt x="0" y="0"/>
                </a:moveTo>
                <a:lnTo>
                  <a:pt x="12935888" y="0"/>
                </a:lnTo>
                <a:lnTo>
                  <a:pt x="12935888" y="1622866"/>
                </a:lnTo>
                <a:lnTo>
                  <a:pt x="0" y="16228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1759924"/>
            <a:ext cx="12116531" cy="338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4"/>
              </a:lnSpc>
            </a:pPr>
            <a:r>
              <a:rPr lang="en-US" sz="821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NOTAS DE</a:t>
            </a:r>
          </a:p>
          <a:p>
            <a:pPr algn="l" marL="0" indent="0" lvl="0">
              <a:lnSpc>
                <a:spcPts val="8784"/>
              </a:lnSpc>
            </a:pPr>
            <a:r>
              <a:rPr lang="en-US" sz="821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MATEMÁTICA NO ENEM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464" y="6760440"/>
            <a:ext cx="15345108" cy="62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360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PROJETO DE EXTENSÃO ACADÊMICA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7571873"/>
            <a:ext cx="15345108" cy="62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60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Estácio - Recife/PE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08429" y="8710930"/>
            <a:ext cx="94607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spc="1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93562" y="9191625"/>
            <a:ext cx="3575804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spc="1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Recife,Pernambuco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019296" y="2995777"/>
            <a:ext cx="12935888" cy="1622866"/>
          </a:xfrm>
          <a:custGeom>
            <a:avLst/>
            <a:gdLst/>
            <a:ahLst/>
            <a:cxnLst/>
            <a:rect r="r" b="b" t="t" l="l"/>
            <a:pathLst>
              <a:path h="1622866" w="12935888">
                <a:moveTo>
                  <a:pt x="12935888" y="0"/>
                </a:moveTo>
                <a:lnTo>
                  <a:pt x="0" y="0"/>
                </a:lnTo>
                <a:lnTo>
                  <a:pt x="0" y="1622866"/>
                </a:lnTo>
                <a:lnTo>
                  <a:pt x="12935888" y="1622866"/>
                </a:lnTo>
                <a:lnTo>
                  <a:pt x="1293588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-736581"/>
            <a:ext cx="8038592" cy="11760162"/>
          </a:xfrm>
          <a:custGeom>
            <a:avLst/>
            <a:gdLst/>
            <a:ahLst/>
            <a:cxnLst/>
            <a:rect r="r" b="b" t="t" l="l"/>
            <a:pathLst>
              <a:path h="11760162" w="8038592">
                <a:moveTo>
                  <a:pt x="8038592" y="0"/>
                </a:moveTo>
                <a:lnTo>
                  <a:pt x="0" y="0"/>
                </a:lnTo>
                <a:lnTo>
                  <a:pt x="0" y="11760162"/>
                </a:lnTo>
                <a:lnTo>
                  <a:pt x="8038592" y="11760162"/>
                </a:lnTo>
                <a:lnTo>
                  <a:pt x="803859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15951" y="6387303"/>
            <a:ext cx="580449" cy="580449"/>
          </a:xfrm>
          <a:custGeom>
            <a:avLst/>
            <a:gdLst/>
            <a:ahLst/>
            <a:cxnLst/>
            <a:rect r="r" b="b" t="t" l="l"/>
            <a:pathLst>
              <a:path h="580449" w="580449">
                <a:moveTo>
                  <a:pt x="0" y="0"/>
                </a:moveTo>
                <a:lnTo>
                  <a:pt x="580449" y="0"/>
                </a:lnTo>
                <a:lnTo>
                  <a:pt x="580449" y="580449"/>
                </a:lnTo>
                <a:lnTo>
                  <a:pt x="0" y="5804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73430" y="343497"/>
            <a:ext cx="9612022" cy="9600007"/>
          </a:xfrm>
          <a:custGeom>
            <a:avLst/>
            <a:gdLst/>
            <a:ahLst/>
            <a:cxnLst/>
            <a:rect r="r" b="b" t="t" l="l"/>
            <a:pathLst>
              <a:path h="9600007" w="9612022">
                <a:moveTo>
                  <a:pt x="0" y="0"/>
                </a:moveTo>
                <a:lnTo>
                  <a:pt x="9612022" y="0"/>
                </a:lnTo>
                <a:lnTo>
                  <a:pt x="9612022" y="9600006"/>
                </a:lnTo>
                <a:lnTo>
                  <a:pt x="0" y="96000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639588" y="903964"/>
            <a:ext cx="8479073" cy="847907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25046" t="0" r="-25046" b="0"/>
              </a:stretch>
            </a:blipFill>
            <a:ln w="238125" cap="sq">
              <a:solidFill>
                <a:srgbClr val="0276DB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715951" y="7142807"/>
            <a:ext cx="580449" cy="580449"/>
          </a:xfrm>
          <a:custGeom>
            <a:avLst/>
            <a:gdLst/>
            <a:ahLst/>
            <a:cxnLst/>
            <a:rect r="r" b="b" t="t" l="l"/>
            <a:pathLst>
              <a:path h="580449" w="580449">
                <a:moveTo>
                  <a:pt x="0" y="0"/>
                </a:moveTo>
                <a:lnTo>
                  <a:pt x="580449" y="0"/>
                </a:lnTo>
                <a:lnTo>
                  <a:pt x="580449" y="580449"/>
                </a:lnTo>
                <a:lnTo>
                  <a:pt x="0" y="5804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15951" y="8677851"/>
            <a:ext cx="580449" cy="580449"/>
          </a:xfrm>
          <a:custGeom>
            <a:avLst/>
            <a:gdLst/>
            <a:ahLst/>
            <a:cxnLst/>
            <a:rect r="r" b="b" t="t" l="l"/>
            <a:pathLst>
              <a:path h="580449" w="580449">
                <a:moveTo>
                  <a:pt x="0" y="0"/>
                </a:moveTo>
                <a:lnTo>
                  <a:pt x="580449" y="0"/>
                </a:lnTo>
                <a:lnTo>
                  <a:pt x="580449" y="580449"/>
                </a:lnTo>
                <a:lnTo>
                  <a:pt x="0" y="5804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15951" y="5607764"/>
            <a:ext cx="580449" cy="580449"/>
          </a:xfrm>
          <a:custGeom>
            <a:avLst/>
            <a:gdLst/>
            <a:ahLst/>
            <a:cxnLst/>
            <a:rect r="r" b="b" t="t" l="l"/>
            <a:pathLst>
              <a:path h="580449" w="580449">
                <a:moveTo>
                  <a:pt x="0" y="0"/>
                </a:moveTo>
                <a:lnTo>
                  <a:pt x="580449" y="0"/>
                </a:lnTo>
                <a:lnTo>
                  <a:pt x="580449" y="580448"/>
                </a:lnTo>
                <a:lnTo>
                  <a:pt x="0" y="5804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15951" y="7944375"/>
            <a:ext cx="580449" cy="580449"/>
          </a:xfrm>
          <a:custGeom>
            <a:avLst/>
            <a:gdLst/>
            <a:ahLst/>
            <a:cxnLst/>
            <a:rect r="r" b="b" t="t" l="l"/>
            <a:pathLst>
              <a:path h="580449" w="580449">
                <a:moveTo>
                  <a:pt x="0" y="0"/>
                </a:moveTo>
                <a:lnTo>
                  <a:pt x="580449" y="0"/>
                </a:lnTo>
                <a:lnTo>
                  <a:pt x="580449" y="580448"/>
                </a:lnTo>
                <a:lnTo>
                  <a:pt x="0" y="5804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387473" y="8710930"/>
            <a:ext cx="725391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1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Richard Willian Luna de Araújo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06176" y="4605098"/>
            <a:ext cx="5546987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59"/>
              </a:lnSpc>
              <a:spcBef>
                <a:spcPct val="0"/>
              </a:spcBef>
            </a:pPr>
            <a:r>
              <a:rPr lang="en-US" b="true" sz="4399" i="true" spc="351" strike="noStrike" u="none">
                <a:solidFill>
                  <a:srgbClr val="FFFFFF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Programmer Group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53776" y="3107078"/>
            <a:ext cx="6909969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Davi de Barros </a:t>
            </a:r>
          </a:p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434224" y="7151607"/>
            <a:ext cx="5881915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1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Lucas Henrique Costa de Melo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34224" y="6370505"/>
            <a:ext cx="5704284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1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Kawan Maciel de Lima Silva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87473" y="5592283"/>
            <a:ext cx="575103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1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Gabriel Josinaldo de Oliveira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90143" y="2145778"/>
            <a:ext cx="8856785" cy="131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58"/>
              </a:lnSpc>
              <a:spcBef>
                <a:spcPct val="0"/>
              </a:spcBef>
            </a:pPr>
            <a:r>
              <a:rPr lang="en-US" sz="94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Professor: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34224" y="7927576"/>
            <a:ext cx="8091234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1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Lucas Vinnicyus Germano da Silva Soares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9408" y="-736581"/>
            <a:ext cx="8038592" cy="11760162"/>
          </a:xfrm>
          <a:custGeom>
            <a:avLst/>
            <a:gdLst/>
            <a:ahLst/>
            <a:cxnLst/>
            <a:rect r="r" b="b" t="t" l="l"/>
            <a:pathLst>
              <a:path h="11760162" w="8038592">
                <a:moveTo>
                  <a:pt x="0" y="0"/>
                </a:moveTo>
                <a:lnTo>
                  <a:pt x="8038592" y="0"/>
                </a:lnTo>
                <a:lnTo>
                  <a:pt x="8038592" y="11760162"/>
                </a:lnTo>
                <a:lnTo>
                  <a:pt x="0" y="11760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98366" y="-736581"/>
            <a:ext cx="9612022" cy="9600007"/>
          </a:xfrm>
          <a:custGeom>
            <a:avLst/>
            <a:gdLst/>
            <a:ahLst/>
            <a:cxnLst/>
            <a:rect r="r" b="b" t="t" l="l"/>
            <a:pathLst>
              <a:path h="9600007" w="9612022">
                <a:moveTo>
                  <a:pt x="0" y="0"/>
                </a:moveTo>
                <a:lnTo>
                  <a:pt x="9612021" y="0"/>
                </a:lnTo>
                <a:lnTo>
                  <a:pt x="9612021" y="9600007"/>
                </a:lnTo>
                <a:lnTo>
                  <a:pt x="0" y="96000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009711" y="0"/>
            <a:ext cx="8479073" cy="8479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9075" t="0" r="-57590" b="0"/>
              </a:stretch>
            </a:blipFill>
            <a:ln w="238125" cap="sq">
              <a:solidFill>
                <a:srgbClr val="0276D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08458" y="3396545"/>
            <a:ext cx="8410150" cy="145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128"/>
              </a:lnSpc>
              <a:spcBef>
                <a:spcPct val="0"/>
              </a:spcBef>
            </a:pPr>
            <a:r>
              <a:rPr lang="en-US" sz="104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Introdução.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446" y="4316309"/>
            <a:ext cx="251579" cy="1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spc="283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4796975"/>
            <a:ext cx="10908847" cy="106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6"/>
              </a:lnSpc>
            </a:pPr>
            <a:r>
              <a:rPr lang="en-US" sz="305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Projeto voltado para análise das notas de Matemática do ENEM.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892" y="5776656"/>
            <a:ext cx="166688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4025" y="5993923"/>
            <a:ext cx="10998973" cy="106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305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Uso de tecnologia e análise de dados para interpretação de informações educacionais.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892" y="6973533"/>
            <a:ext cx="166688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7192608"/>
            <a:ext cx="11009711" cy="1058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03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Foco na organização, visualização e compreensão dos dados.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5250"/>
            <a:ext cx="7051360" cy="2111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3"/>
              </a:lnSpc>
            </a:pPr>
            <a:r>
              <a:rPr lang="en-US" sz="770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Diagnóstico e</a:t>
            </a:r>
          </a:p>
          <a:p>
            <a:pPr algn="l" marL="0" indent="0" lvl="0">
              <a:lnSpc>
                <a:spcPts val="8243"/>
              </a:lnSpc>
              <a:spcBef>
                <a:spcPct val="0"/>
              </a:spcBef>
            </a:pPr>
            <a:r>
              <a:rPr lang="en-US" sz="770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Teorização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49408" y="-736581"/>
            <a:ext cx="8038592" cy="11760162"/>
          </a:xfrm>
          <a:custGeom>
            <a:avLst/>
            <a:gdLst/>
            <a:ahLst/>
            <a:cxnLst/>
            <a:rect r="r" b="b" t="t" l="l"/>
            <a:pathLst>
              <a:path h="11760162" w="8038592">
                <a:moveTo>
                  <a:pt x="0" y="0"/>
                </a:moveTo>
                <a:lnTo>
                  <a:pt x="8038592" y="0"/>
                </a:lnTo>
                <a:lnTo>
                  <a:pt x="8038592" y="11760162"/>
                </a:lnTo>
                <a:lnTo>
                  <a:pt x="0" y="11760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401103" y="2139463"/>
            <a:ext cx="8619273" cy="1081327"/>
          </a:xfrm>
          <a:custGeom>
            <a:avLst/>
            <a:gdLst/>
            <a:ahLst/>
            <a:cxnLst/>
            <a:rect r="r" b="b" t="t" l="l"/>
            <a:pathLst>
              <a:path h="1081327" w="8619273">
                <a:moveTo>
                  <a:pt x="0" y="0"/>
                </a:moveTo>
                <a:lnTo>
                  <a:pt x="8619273" y="0"/>
                </a:lnTo>
                <a:lnTo>
                  <a:pt x="8619273" y="1081327"/>
                </a:lnTo>
                <a:lnTo>
                  <a:pt x="0" y="10813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4128" y="2798894"/>
            <a:ext cx="7584366" cy="94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864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Oprojeto foi desenvolvido sem parcerias institucionais</a:t>
            </a:r>
          </a:p>
          <a:p>
            <a:pPr algn="just" marL="0" indent="0" lvl="0">
              <a:lnSpc>
                <a:spcPts val="3864"/>
              </a:lnSpc>
            </a:pPr>
            <a:r>
              <a:rPr lang="en-US" sz="23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externas.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2401103" y="4890758"/>
            <a:ext cx="8619273" cy="1081327"/>
          </a:xfrm>
          <a:custGeom>
            <a:avLst/>
            <a:gdLst/>
            <a:ahLst/>
            <a:cxnLst/>
            <a:rect r="r" b="b" t="t" l="l"/>
            <a:pathLst>
              <a:path h="1081327" w="8619273">
                <a:moveTo>
                  <a:pt x="0" y="0"/>
                </a:moveTo>
                <a:lnTo>
                  <a:pt x="8619273" y="0"/>
                </a:lnTo>
                <a:lnTo>
                  <a:pt x="8619273" y="1081327"/>
                </a:lnTo>
                <a:lnTo>
                  <a:pt x="0" y="10813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5545076"/>
            <a:ext cx="5806598" cy="1916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590" indent="-249795" lvl="1">
              <a:lnSpc>
                <a:spcPts val="3887"/>
              </a:lnSpc>
              <a:buFont typeface="Arial"/>
              <a:buChar char="•"/>
            </a:pPr>
            <a:r>
              <a:rPr lang="en-US" sz="2313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Dificuldade na compreensão de dados educacionais.</a:t>
            </a:r>
          </a:p>
          <a:p>
            <a:pPr algn="just" marL="499590" indent="-249795" lvl="1">
              <a:lnSpc>
                <a:spcPts val="3887"/>
              </a:lnSpc>
              <a:buFont typeface="Arial"/>
              <a:buChar char="•"/>
            </a:pPr>
            <a:r>
              <a:rPr lang="en-US" sz="2313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Necessidade de tornar informações mais claras e acessíveis.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75978" y="343497"/>
            <a:ext cx="9612022" cy="9600007"/>
          </a:xfrm>
          <a:custGeom>
            <a:avLst/>
            <a:gdLst/>
            <a:ahLst/>
            <a:cxnLst/>
            <a:rect r="r" b="b" t="t" l="l"/>
            <a:pathLst>
              <a:path h="9600007" w="9612022">
                <a:moveTo>
                  <a:pt x="0" y="0"/>
                </a:moveTo>
                <a:lnTo>
                  <a:pt x="9612022" y="0"/>
                </a:lnTo>
                <a:lnTo>
                  <a:pt x="9612022" y="9600006"/>
                </a:lnTo>
                <a:lnTo>
                  <a:pt x="0" y="96000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609820" y="903964"/>
            <a:ext cx="8479073" cy="847907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238125" cap="sq">
              <a:solidFill>
                <a:srgbClr val="0276D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88914" y="2303127"/>
            <a:ext cx="5029256" cy="610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37"/>
              </a:lnSpc>
              <a:spcBef>
                <a:spcPct val="0"/>
              </a:spcBef>
            </a:pPr>
            <a:r>
              <a:rPr lang="en-US" b="true" sz="3117" spc="24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Partes Interessadas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2455" y="5044898"/>
            <a:ext cx="3792183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8"/>
              </a:lnSpc>
              <a:spcBef>
                <a:spcPct val="0"/>
              </a:spcBef>
            </a:pPr>
            <a:r>
              <a:rPr lang="en-US" b="true" sz="3100" spc="24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Problemática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2401103" y="7391311"/>
            <a:ext cx="8619273" cy="1081327"/>
          </a:xfrm>
          <a:custGeom>
            <a:avLst/>
            <a:gdLst/>
            <a:ahLst/>
            <a:cxnLst/>
            <a:rect r="r" b="b" t="t" l="l"/>
            <a:pathLst>
              <a:path h="1081327" w="8619273">
                <a:moveTo>
                  <a:pt x="0" y="0"/>
                </a:moveTo>
                <a:lnTo>
                  <a:pt x="8619273" y="0"/>
                </a:lnTo>
                <a:lnTo>
                  <a:pt x="8619273" y="1081327"/>
                </a:lnTo>
                <a:lnTo>
                  <a:pt x="0" y="10813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32455" y="7545450"/>
            <a:ext cx="3792183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8"/>
              </a:lnSpc>
              <a:spcBef>
                <a:spcPct val="0"/>
              </a:spcBef>
            </a:pPr>
            <a:r>
              <a:rPr lang="en-US" b="true" sz="3100" spc="24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Justificativa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7022" y="8051798"/>
            <a:ext cx="7584366" cy="191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864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Facilitar a interpretação das notas do ENEM.</a:t>
            </a:r>
          </a:p>
          <a:p>
            <a:pPr algn="l" marL="496571" indent="-248285" lvl="1">
              <a:lnSpc>
                <a:spcPts val="3864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Promover experiência prática aos alunos. </a:t>
            </a:r>
          </a:p>
          <a:p>
            <a:pPr algn="l" marL="496571" indent="-248285" lvl="1">
              <a:lnSpc>
                <a:spcPts val="3864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Desenvolver Raciocínio lógico e habilidades em tecnologia.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4128" y="3672321"/>
            <a:ext cx="7584366" cy="94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864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O público alvo é composto de profissionais que utilizam dados e informações em suas atividades.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44868" y="5551246"/>
            <a:ext cx="4064953" cy="1431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864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Importância da análise de dados no contexto social e educacional.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-736581"/>
            <a:ext cx="8038592" cy="11760162"/>
          </a:xfrm>
          <a:custGeom>
            <a:avLst/>
            <a:gdLst/>
            <a:ahLst/>
            <a:cxnLst/>
            <a:rect r="r" b="b" t="t" l="l"/>
            <a:pathLst>
              <a:path h="11760162" w="8038592">
                <a:moveTo>
                  <a:pt x="8038592" y="0"/>
                </a:moveTo>
                <a:lnTo>
                  <a:pt x="0" y="0"/>
                </a:lnTo>
                <a:lnTo>
                  <a:pt x="0" y="11760162"/>
                </a:lnTo>
                <a:lnTo>
                  <a:pt x="8038592" y="11760162"/>
                </a:lnTo>
                <a:lnTo>
                  <a:pt x="803859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67307" y="3124077"/>
            <a:ext cx="538924" cy="497158"/>
          </a:xfrm>
          <a:custGeom>
            <a:avLst/>
            <a:gdLst/>
            <a:ahLst/>
            <a:cxnLst/>
            <a:rect r="r" b="b" t="t" l="l"/>
            <a:pathLst>
              <a:path h="497158" w="538924">
                <a:moveTo>
                  <a:pt x="0" y="0"/>
                </a:moveTo>
                <a:lnTo>
                  <a:pt x="538925" y="0"/>
                </a:lnTo>
                <a:lnTo>
                  <a:pt x="538925" y="497158"/>
                </a:lnTo>
                <a:lnTo>
                  <a:pt x="0" y="497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67307" y="5143500"/>
            <a:ext cx="538924" cy="497158"/>
          </a:xfrm>
          <a:custGeom>
            <a:avLst/>
            <a:gdLst/>
            <a:ahLst/>
            <a:cxnLst/>
            <a:rect r="r" b="b" t="t" l="l"/>
            <a:pathLst>
              <a:path h="497158" w="538924">
                <a:moveTo>
                  <a:pt x="0" y="0"/>
                </a:moveTo>
                <a:lnTo>
                  <a:pt x="538925" y="0"/>
                </a:lnTo>
                <a:lnTo>
                  <a:pt x="538925" y="497158"/>
                </a:lnTo>
                <a:lnTo>
                  <a:pt x="0" y="497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64406" y="7332266"/>
            <a:ext cx="538924" cy="497158"/>
          </a:xfrm>
          <a:custGeom>
            <a:avLst/>
            <a:gdLst/>
            <a:ahLst/>
            <a:cxnLst/>
            <a:rect r="r" b="b" t="t" l="l"/>
            <a:pathLst>
              <a:path h="497158" w="538924">
                <a:moveTo>
                  <a:pt x="0" y="0"/>
                </a:moveTo>
                <a:lnTo>
                  <a:pt x="538925" y="0"/>
                </a:lnTo>
                <a:lnTo>
                  <a:pt x="538925" y="497158"/>
                </a:lnTo>
                <a:lnTo>
                  <a:pt x="0" y="497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271466" y="343497"/>
            <a:ext cx="9612022" cy="9600007"/>
          </a:xfrm>
          <a:custGeom>
            <a:avLst/>
            <a:gdLst/>
            <a:ahLst/>
            <a:cxnLst/>
            <a:rect r="r" b="b" t="t" l="l"/>
            <a:pathLst>
              <a:path h="9600007" w="9612022">
                <a:moveTo>
                  <a:pt x="0" y="0"/>
                </a:moveTo>
                <a:lnTo>
                  <a:pt x="9612022" y="0"/>
                </a:lnTo>
                <a:lnTo>
                  <a:pt x="9612022" y="9600006"/>
                </a:lnTo>
                <a:lnTo>
                  <a:pt x="0" y="96000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337623" y="903964"/>
            <a:ext cx="8479073" cy="847907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238125" cap="sq">
              <a:solidFill>
                <a:srgbClr val="0276DB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8095742" y="2971677"/>
            <a:ext cx="4007292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76"/>
              </a:lnSpc>
              <a:spcBef>
                <a:spcPct val="0"/>
              </a:spcBef>
            </a:pPr>
            <a:r>
              <a:rPr lang="en-US" sz="3200" spc="1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Análise Profunda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95742" y="5007055"/>
            <a:ext cx="4007292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76"/>
              </a:lnSpc>
              <a:spcBef>
                <a:spcPct val="0"/>
              </a:spcBef>
            </a:pPr>
            <a:r>
              <a:rPr lang="en-US" sz="3200" spc="1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Visualização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54022" y="7195821"/>
            <a:ext cx="4007292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76"/>
              </a:lnSpc>
              <a:spcBef>
                <a:spcPct val="0"/>
              </a:spcBef>
            </a:pPr>
            <a:r>
              <a:rPr lang="en-US" sz="3200" spc="1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Tecnologia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41449" y="1708213"/>
            <a:ext cx="12916650" cy="102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1"/>
              </a:lnSpc>
              <a:spcBef>
                <a:spcPct val="0"/>
              </a:spcBef>
            </a:pPr>
            <a:r>
              <a:rPr lang="en-US" sz="7300" spc="-18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Objetivo Estratégicos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67307" y="3663349"/>
            <a:ext cx="9588012" cy="51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4367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Analisar dados das notas do ENEM dos últimos anos.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67307" y="5678758"/>
            <a:ext cx="9588012" cy="1070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4367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Desenvolver gráficos e relatórios visuais, que permitam aos trabalhadores a analise dos dados apresentados.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64406" y="7705599"/>
            <a:ext cx="9588012" cy="1070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4367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Demostrar a importância da análise de dados e das ferramentas tecnológicas.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43628" y="348842"/>
            <a:ext cx="8615672" cy="90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35"/>
              </a:lnSpc>
              <a:spcBef>
                <a:spcPct val="0"/>
              </a:spcBef>
            </a:pPr>
            <a:r>
              <a:rPr lang="en-US" sz="648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Referencia Teórico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0" y="-736581"/>
            <a:ext cx="8038592" cy="11760162"/>
          </a:xfrm>
          <a:custGeom>
            <a:avLst/>
            <a:gdLst/>
            <a:ahLst/>
            <a:cxnLst/>
            <a:rect r="r" b="b" t="t" l="l"/>
            <a:pathLst>
              <a:path h="11760162" w="8038592">
                <a:moveTo>
                  <a:pt x="8038592" y="0"/>
                </a:moveTo>
                <a:lnTo>
                  <a:pt x="0" y="0"/>
                </a:lnTo>
                <a:lnTo>
                  <a:pt x="0" y="11760162"/>
                </a:lnTo>
                <a:lnTo>
                  <a:pt x="8038592" y="11760162"/>
                </a:lnTo>
                <a:lnTo>
                  <a:pt x="803859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17584" y="1570955"/>
            <a:ext cx="8619273" cy="1081327"/>
          </a:xfrm>
          <a:custGeom>
            <a:avLst/>
            <a:gdLst/>
            <a:ahLst/>
            <a:cxnLst/>
            <a:rect r="r" b="b" t="t" l="l"/>
            <a:pathLst>
              <a:path h="1081327" w="8619273">
                <a:moveTo>
                  <a:pt x="0" y="0"/>
                </a:moveTo>
                <a:lnTo>
                  <a:pt x="8619274" y="0"/>
                </a:lnTo>
                <a:lnTo>
                  <a:pt x="8619274" y="1081327"/>
                </a:lnTo>
                <a:lnTo>
                  <a:pt x="0" y="10813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71857" y="1626128"/>
            <a:ext cx="6182384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8"/>
              </a:lnSpc>
              <a:spcBef>
                <a:spcPct val="0"/>
              </a:spcBef>
            </a:pPr>
            <a:r>
              <a:rPr lang="en-US" b="true" sz="3100" spc="24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Data Science for Business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870866" y="4062173"/>
            <a:ext cx="8619273" cy="1081327"/>
          </a:xfrm>
          <a:custGeom>
            <a:avLst/>
            <a:gdLst/>
            <a:ahLst/>
            <a:cxnLst/>
            <a:rect r="r" b="b" t="t" l="l"/>
            <a:pathLst>
              <a:path h="1081327" w="8619273">
                <a:moveTo>
                  <a:pt x="0" y="0"/>
                </a:moveTo>
                <a:lnTo>
                  <a:pt x="8619274" y="0"/>
                </a:lnTo>
                <a:lnTo>
                  <a:pt x="8619274" y="1081327"/>
                </a:lnTo>
                <a:lnTo>
                  <a:pt x="0" y="10813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70866" y="2218202"/>
            <a:ext cx="10120974" cy="184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19"/>
              </a:lnSpc>
            </a:pPr>
            <a:r>
              <a:rPr lang="en-US" sz="2213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O livro destaca a importância da análise de dados para organizar, interpretar e transformar informações em conhecimento útil. Também mostra como a ciência de dados ajuda na identificação de padrões e tendências, sendo essencial em projetos que utilizam grandes volumes de dados, como a análise das notas do ENEM.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841058" y="2742077"/>
            <a:ext cx="9612022" cy="9600007"/>
          </a:xfrm>
          <a:custGeom>
            <a:avLst/>
            <a:gdLst/>
            <a:ahLst/>
            <a:cxnLst/>
            <a:rect r="r" b="b" t="t" l="l"/>
            <a:pathLst>
              <a:path h="9600007" w="9612022">
                <a:moveTo>
                  <a:pt x="0" y="0"/>
                </a:moveTo>
                <a:lnTo>
                  <a:pt x="9612022" y="0"/>
                </a:lnTo>
                <a:lnTo>
                  <a:pt x="9612022" y="9600007"/>
                </a:lnTo>
                <a:lnTo>
                  <a:pt x="0" y="96000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907216" y="3302544"/>
            <a:ext cx="8479073" cy="847907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238125" cap="sq">
              <a:solidFill>
                <a:srgbClr val="0276D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663049" y="4084366"/>
            <a:ext cx="6182384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8"/>
              </a:lnSpc>
              <a:spcBef>
                <a:spcPct val="0"/>
              </a:spcBef>
            </a:pPr>
            <a:r>
              <a:rPr lang="en-US" b="true" sz="3100" spc="24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Big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38592" y="4756591"/>
            <a:ext cx="10096331" cy="230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96"/>
              </a:lnSpc>
            </a:pPr>
            <a:r>
              <a:rPr lang="en-US" sz="22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 obra aborda como o Big Data impacta a sociedade, a educação e o mercado de trabalho, mostrando que a análise correta dos dados ajuda a compreender comportamentos e indicadores sociais. Também destaca que o uso de dados contribui para gerar conhecimento e apoiar decisões mais eficientes, sendo importante para projetos de análise educacional.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571857" y="7213278"/>
            <a:ext cx="8619273" cy="1081327"/>
          </a:xfrm>
          <a:custGeom>
            <a:avLst/>
            <a:gdLst/>
            <a:ahLst/>
            <a:cxnLst/>
            <a:rect r="r" b="b" t="t" l="l"/>
            <a:pathLst>
              <a:path h="1081327" w="8619273">
                <a:moveTo>
                  <a:pt x="0" y="0"/>
                </a:moveTo>
                <a:lnTo>
                  <a:pt x="8619274" y="0"/>
                </a:lnTo>
                <a:lnTo>
                  <a:pt x="8619274" y="1081328"/>
                </a:lnTo>
                <a:lnTo>
                  <a:pt x="0" y="10813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440574" y="7222803"/>
            <a:ext cx="6182384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8"/>
              </a:lnSpc>
              <a:spcBef>
                <a:spcPct val="0"/>
              </a:spcBef>
            </a:pPr>
            <a:r>
              <a:rPr lang="en-US" b="true" sz="3100" spc="24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 Sociedade em Rede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39583" y="7910127"/>
            <a:ext cx="9395340" cy="230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96"/>
              </a:lnSpc>
            </a:pPr>
            <a:r>
              <a:rPr lang="en-US" sz="22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 obra destaca a relação entre tecnologia, informação e sociedade, mostrando como os recursos tecnológicos transformaram o uso e o compartilhamento de dados. Também reforça a importância do acesso à informação e da capacidade de interpretar dados no contexto atual, justificando o uso de ferramentas tecnológicas e análises educacionais no projeto.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-736581"/>
            <a:ext cx="8038592" cy="11760162"/>
          </a:xfrm>
          <a:custGeom>
            <a:avLst/>
            <a:gdLst/>
            <a:ahLst/>
            <a:cxnLst/>
            <a:rect r="r" b="b" t="t" l="l"/>
            <a:pathLst>
              <a:path h="11760162" w="8038592">
                <a:moveTo>
                  <a:pt x="8038592" y="0"/>
                </a:moveTo>
                <a:lnTo>
                  <a:pt x="0" y="0"/>
                </a:lnTo>
                <a:lnTo>
                  <a:pt x="0" y="11760162"/>
                </a:lnTo>
                <a:lnTo>
                  <a:pt x="8038592" y="11760162"/>
                </a:lnTo>
                <a:lnTo>
                  <a:pt x="803859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52455" y="2508658"/>
            <a:ext cx="11803337" cy="116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848"/>
              </a:lnSpc>
            </a:pPr>
            <a:r>
              <a:rPr lang="en-US" sz="826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Plano de Trabalho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768038" y="600780"/>
            <a:ext cx="9096812" cy="9085441"/>
          </a:xfrm>
          <a:custGeom>
            <a:avLst/>
            <a:gdLst/>
            <a:ahLst/>
            <a:cxnLst/>
            <a:rect r="r" b="b" t="t" l="l"/>
            <a:pathLst>
              <a:path h="9085441" w="9096812">
                <a:moveTo>
                  <a:pt x="0" y="0"/>
                </a:moveTo>
                <a:lnTo>
                  <a:pt x="9096811" y="0"/>
                </a:lnTo>
                <a:lnTo>
                  <a:pt x="9096811" y="9085440"/>
                </a:lnTo>
                <a:lnTo>
                  <a:pt x="0" y="90854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5749" y="1131205"/>
            <a:ext cx="8024589" cy="802458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500" t="0" r="-12500" b="0"/>
              </a:stretch>
            </a:blipFill>
            <a:ln w="238125" cap="sq">
              <a:solidFill>
                <a:srgbClr val="0276DB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579080" y="8980974"/>
            <a:ext cx="10410353" cy="1306026"/>
          </a:xfrm>
          <a:custGeom>
            <a:avLst/>
            <a:gdLst/>
            <a:ahLst/>
            <a:cxnLst/>
            <a:rect r="r" b="b" t="t" l="l"/>
            <a:pathLst>
              <a:path h="1306026" w="10410353">
                <a:moveTo>
                  <a:pt x="0" y="0"/>
                </a:moveTo>
                <a:lnTo>
                  <a:pt x="10410353" y="0"/>
                </a:lnTo>
                <a:lnTo>
                  <a:pt x="10410353" y="1306026"/>
                </a:lnTo>
                <a:lnTo>
                  <a:pt x="0" y="13060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2054124" y="4614"/>
            <a:ext cx="10410353" cy="1306026"/>
          </a:xfrm>
          <a:custGeom>
            <a:avLst/>
            <a:gdLst/>
            <a:ahLst/>
            <a:cxnLst/>
            <a:rect r="r" b="b" t="t" l="l"/>
            <a:pathLst>
              <a:path h="1306026" w="10410353">
                <a:moveTo>
                  <a:pt x="0" y="1306026"/>
                </a:moveTo>
                <a:lnTo>
                  <a:pt x="10410352" y="1306026"/>
                </a:lnTo>
                <a:lnTo>
                  <a:pt x="10410352" y="0"/>
                </a:lnTo>
                <a:lnTo>
                  <a:pt x="0" y="0"/>
                </a:lnTo>
                <a:lnTo>
                  <a:pt x="0" y="130602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37780" y="3605673"/>
            <a:ext cx="6429653" cy="522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spc="23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Coleta e organização dos dados do ENEM.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spc="23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•Desenvolvimento do código em Python.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spc="23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Criação dos slides e elaboração do roteiro de extensão.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spc="23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Uso de Google Colab, planilhas e ferramentas de análise.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9408" y="-736581"/>
            <a:ext cx="8038592" cy="11760162"/>
          </a:xfrm>
          <a:custGeom>
            <a:avLst/>
            <a:gdLst/>
            <a:ahLst/>
            <a:cxnLst/>
            <a:rect r="r" b="b" t="t" l="l"/>
            <a:pathLst>
              <a:path h="11760162" w="8038592">
                <a:moveTo>
                  <a:pt x="0" y="0"/>
                </a:moveTo>
                <a:lnTo>
                  <a:pt x="8038592" y="0"/>
                </a:lnTo>
                <a:lnTo>
                  <a:pt x="8038592" y="11760162"/>
                </a:lnTo>
                <a:lnTo>
                  <a:pt x="0" y="11760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98366" y="-736581"/>
            <a:ext cx="9612022" cy="9600007"/>
          </a:xfrm>
          <a:custGeom>
            <a:avLst/>
            <a:gdLst/>
            <a:ahLst/>
            <a:cxnLst/>
            <a:rect r="r" b="b" t="t" l="l"/>
            <a:pathLst>
              <a:path h="9600007" w="9612022">
                <a:moveTo>
                  <a:pt x="0" y="0"/>
                </a:moveTo>
                <a:lnTo>
                  <a:pt x="9612021" y="0"/>
                </a:lnTo>
                <a:lnTo>
                  <a:pt x="9612021" y="9600007"/>
                </a:lnTo>
                <a:lnTo>
                  <a:pt x="0" y="96000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03179" y="1726742"/>
            <a:ext cx="9220708" cy="190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02"/>
              </a:lnSpc>
              <a:spcBef>
                <a:spcPct val="0"/>
              </a:spcBef>
            </a:pPr>
            <a:r>
              <a:rPr lang="en-US" sz="691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Desenvolvimento Técnico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928132"/>
            <a:ext cx="8969666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1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Utilização de Python, Pandas e Matplotlib.</a:t>
            </a:r>
          </a:p>
          <a:p>
            <a:pPr algn="l" marL="539749" indent="-269875" lvl="1">
              <a:lnSpc>
                <a:spcPts val="41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Leitura e tratamento de arquivos CSV do ENEM.</a:t>
            </a:r>
          </a:p>
          <a:p>
            <a:pPr algn="l" marL="539749" indent="-269875" lvl="1">
              <a:lnSpc>
                <a:spcPts val="41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Criação de gráficos por estado.</a:t>
            </a:r>
          </a:p>
          <a:p>
            <a:pPr algn="l" marL="539749" indent="-269875" lvl="1">
              <a:lnSpc>
                <a:spcPts val="41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Análises estatísticas e visualizações.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9408" y="-736581"/>
            <a:ext cx="8038592" cy="11760162"/>
          </a:xfrm>
          <a:custGeom>
            <a:avLst/>
            <a:gdLst/>
            <a:ahLst/>
            <a:cxnLst/>
            <a:rect r="r" b="b" t="t" l="l"/>
            <a:pathLst>
              <a:path h="11760162" w="8038592">
                <a:moveTo>
                  <a:pt x="0" y="0"/>
                </a:moveTo>
                <a:lnTo>
                  <a:pt x="8038592" y="0"/>
                </a:lnTo>
                <a:lnTo>
                  <a:pt x="8038592" y="11760162"/>
                </a:lnTo>
                <a:lnTo>
                  <a:pt x="0" y="11760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98366" y="-736581"/>
            <a:ext cx="9612022" cy="9600007"/>
          </a:xfrm>
          <a:custGeom>
            <a:avLst/>
            <a:gdLst/>
            <a:ahLst/>
            <a:cxnLst/>
            <a:rect r="r" b="b" t="t" l="l"/>
            <a:pathLst>
              <a:path h="9600007" w="9612022">
                <a:moveTo>
                  <a:pt x="0" y="0"/>
                </a:moveTo>
                <a:lnTo>
                  <a:pt x="9612021" y="0"/>
                </a:lnTo>
                <a:lnTo>
                  <a:pt x="9612021" y="9600007"/>
                </a:lnTo>
                <a:lnTo>
                  <a:pt x="0" y="96000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932208" y="-176114"/>
            <a:ext cx="8479073" cy="8479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500" t="0" r="-12500" b="0"/>
              </a:stretch>
            </a:blipFill>
            <a:ln w="238125" cap="sq">
              <a:solidFill>
                <a:srgbClr val="0276D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0" y="1315338"/>
            <a:ext cx="12644020" cy="110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14"/>
              </a:lnSpc>
              <a:spcBef>
                <a:spcPct val="0"/>
              </a:spcBef>
            </a:pPr>
            <a:r>
              <a:rPr lang="en-US" sz="786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Resultados Esperados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75019"/>
            <a:ext cx="8969666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1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Projeto funcional e organizado.</a:t>
            </a:r>
          </a:p>
          <a:p>
            <a:pPr algn="l" marL="539749" indent="-269875" lvl="1">
              <a:lnSpc>
                <a:spcPts val="41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Gráficos claros e compreensíveis.</a:t>
            </a:r>
          </a:p>
          <a:p>
            <a:pPr algn="l" marL="539749" indent="-269875" lvl="1">
              <a:lnSpc>
                <a:spcPts val="41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Melhor interpretação das informações educacionais.</a:t>
            </a:r>
          </a:p>
          <a:p>
            <a:pPr algn="l" marL="539749" indent="-269875" lvl="1">
              <a:lnSpc>
                <a:spcPts val="41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Demonstração prática da análise de Dados.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2123" y="6525862"/>
            <a:ext cx="5861757" cy="3487553"/>
          </a:xfrm>
          <a:custGeom>
            <a:avLst/>
            <a:gdLst/>
            <a:ahLst/>
            <a:cxnLst/>
            <a:rect r="r" b="b" t="t" l="l"/>
            <a:pathLst>
              <a:path h="3487553" w="5861757">
                <a:moveTo>
                  <a:pt x="0" y="0"/>
                </a:moveTo>
                <a:lnTo>
                  <a:pt x="5861758" y="0"/>
                </a:lnTo>
                <a:lnTo>
                  <a:pt x="5861758" y="3487553"/>
                </a:lnTo>
                <a:lnTo>
                  <a:pt x="0" y="3487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4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69365" y="6546012"/>
            <a:ext cx="5812589" cy="3487553"/>
          </a:xfrm>
          <a:custGeom>
            <a:avLst/>
            <a:gdLst/>
            <a:ahLst/>
            <a:cxnLst/>
            <a:rect r="r" b="b" t="t" l="l"/>
            <a:pathLst>
              <a:path h="3487553" w="5812589">
                <a:moveTo>
                  <a:pt x="0" y="0"/>
                </a:moveTo>
                <a:lnTo>
                  <a:pt x="5812589" y="0"/>
                </a:lnTo>
                <a:lnTo>
                  <a:pt x="5812589" y="3487553"/>
                </a:lnTo>
                <a:lnTo>
                  <a:pt x="0" y="34875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37706" y="6525862"/>
            <a:ext cx="5812589" cy="3487553"/>
          </a:xfrm>
          <a:custGeom>
            <a:avLst/>
            <a:gdLst/>
            <a:ahLst/>
            <a:cxnLst/>
            <a:rect r="r" b="b" t="t" l="l"/>
            <a:pathLst>
              <a:path h="3487553" w="5812589">
                <a:moveTo>
                  <a:pt x="0" y="0"/>
                </a:moveTo>
                <a:lnTo>
                  <a:pt x="5812588" y="0"/>
                </a:lnTo>
                <a:lnTo>
                  <a:pt x="5812588" y="3487553"/>
                </a:lnTo>
                <a:lnTo>
                  <a:pt x="0" y="34875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6898" y="2387094"/>
            <a:ext cx="5826983" cy="3496190"/>
          </a:xfrm>
          <a:custGeom>
            <a:avLst/>
            <a:gdLst/>
            <a:ahLst/>
            <a:cxnLst/>
            <a:rect r="r" b="b" t="t" l="l"/>
            <a:pathLst>
              <a:path h="3496190" w="5826983">
                <a:moveTo>
                  <a:pt x="0" y="0"/>
                </a:moveTo>
                <a:lnTo>
                  <a:pt x="5826983" y="0"/>
                </a:lnTo>
                <a:lnTo>
                  <a:pt x="5826983" y="3496190"/>
                </a:lnTo>
                <a:lnTo>
                  <a:pt x="0" y="34961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47939" y="2387094"/>
            <a:ext cx="5802356" cy="3481413"/>
          </a:xfrm>
          <a:custGeom>
            <a:avLst/>
            <a:gdLst/>
            <a:ahLst/>
            <a:cxnLst/>
            <a:rect r="r" b="b" t="t" l="l"/>
            <a:pathLst>
              <a:path h="3481413" w="5802356">
                <a:moveTo>
                  <a:pt x="0" y="0"/>
                </a:moveTo>
                <a:lnTo>
                  <a:pt x="5802355" y="0"/>
                </a:lnTo>
                <a:lnTo>
                  <a:pt x="5802355" y="3481413"/>
                </a:lnTo>
                <a:lnTo>
                  <a:pt x="0" y="34814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83644" y="2399280"/>
            <a:ext cx="5819947" cy="3491968"/>
          </a:xfrm>
          <a:custGeom>
            <a:avLst/>
            <a:gdLst/>
            <a:ahLst/>
            <a:cxnLst/>
            <a:rect r="r" b="b" t="t" l="l"/>
            <a:pathLst>
              <a:path h="3491968" w="5819947">
                <a:moveTo>
                  <a:pt x="0" y="0"/>
                </a:moveTo>
                <a:lnTo>
                  <a:pt x="5819947" y="0"/>
                </a:lnTo>
                <a:lnTo>
                  <a:pt x="5819947" y="3491968"/>
                </a:lnTo>
                <a:lnTo>
                  <a:pt x="0" y="3491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99665" y="431587"/>
            <a:ext cx="14088669" cy="1317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063"/>
              </a:lnSpc>
            </a:pPr>
            <a:r>
              <a:rPr lang="en-US" sz="940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Gráficos 2019 á 2024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-736581"/>
            <a:ext cx="8038592" cy="11760162"/>
          </a:xfrm>
          <a:custGeom>
            <a:avLst/>
            <a:gdLst/>
            <a:ahLst/>
            <a:cxnLst/>
            <a:rect r="r" b="b" t="t" l="l"/>
            <a:pathLst>
              <a:path h="11760162" w="8038592">
                <a:moveTo>
                  <a:pt x="8038592" y="0"/>
                </a:moveTo>
                <a:lnTo>
                  <a:pt x="0" y="0"/>
                </a:lnTo>
                <a:lnTo>
                  <a:pt x="0" y="11760162"/>
                </a:lnTo>
                <a:lnTo>
                  <a:pt x="8038592" y="11760162"/>
                </a:lnTo>
                <a:lnTo>
                  <a:pt x="803859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73430" y="343497"/>
            <a:ext cx="9612022" cy="9600007"/>
          </a:xfrm>
          <a:custGeom>
            <a:avLst/>
            <a:gdLst/>
            <a:ahLst/>
            <a:cxnLst/>
            <a:rect r="r" b="b" t="t" l="l"/>
            <a:pathLst>
              <a:path h="9600007" w="9612022">
                <a:moveTo>
                  <a:pt x="0" y="0"/>
                </a:moveTo>
                <a:lnTo>
                  <a:pt x="9612022" y="0"/>
                </a:lnTo>
                <a:lnTo>
                  <a:pt x="9612022" y="9600006"/>
                </a:lnTo>
                <a:lnTo>
                  <a:pt x="0" y="96000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39588" y="903964"/>
            <a:ext cx="8479073" cy="8479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3333" t="0" r="-33333" b="0"/>
              </a:stretch>
            </a:blipFill>
            <a:ln w="238125" cap="sq">
              <a:solidFill>
                <a:srgbClr val="0276D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104471" y="2763276"/>
            <a:ext cx="5704284" cy="504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1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 aná</a:t>
            </a:r>
            <a:r>
              <a:rPr lang="en-US" sz="3200" spc="128" strike="noStrike" u="none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lise de dados contribui para decisões mais eficientes.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128" strike="noStrike" u="none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O projeto fortaleceu habilidades tecnológicas e analíticas.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128" strike="noStrike" u="none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 experiência amplia perspectivas para pesquisas futuras.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1152525"/>
            <a:ext cx="7625225" cy="147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59"/>
              </a:lnSpc>
              <a:spcBef>
                <a:spcPct val="0"/>
              </a:spcBef>
            </a:pPr>
            <a:r>
              <a:rPr lang="en-US" sz="1052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Conclusão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-736581"/>
            <a:ext cx="8038592" cy="11760162"/>
          </a:xfrm>
          <a:custGeom>
            <a:avLst/>
            <a:gdLst/>
            <a:ahLst/>
            <a:cxnLst/>
            <a:rect r="r" b="b" t="t" l="l"/>
            <a:pathLst>
              <a:path h="11760162" w="8038592">
                <a:moveTo>
                  <a:pt x="8038592" y="0"/>
                </a:moveTo>
                <a:lnTo>
                  <a:pt x="0" y="0"/>
                </a:lnTo>
                <a:lnTo>
                  <a:pt x="0" y="11760162"/>
                </a:lnTo>
                <a:lnTo>
                  <a:pt x="8038592" y="11760162"/>
                </a:lnTo>
                <a:lnTo>
                  <a:pt x="803859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18029" y="2094395"/>
            <a:ext cx="14122103" cy="225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203"/>
              </a:lnSpc>
            </a:pPr>
            <a:r>
              <a:rPr lang="en-US" sz="1607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Fim!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768038" y="600780"/>
            <a:ext cx="9096812" cy="9085441"/>
          </a:xfrm>
          <a:custGeom>
            <a:avLst/>
            <a:gdLst/>
            <a:ahLst/>
            <a:cxnLst/>
            <a:rect r="r" b="b" t="t" l="l"/>
            <a:pathLst>
              <a:path h="9085441" w="9096812">
                <a:moveTo>
                  <a:pt x="0" y="0"/>
                </a:moveTo>
                <a:lnTo>
                  <a:pt x="9096811" y="0"/>
                </a:lnTo>
                <a:lnTo>
                  <a:pt x="9096811" y="9085440"/>
                </a:lnTo>
                <a:lnTo>
                  <a:pt x="0" y="90854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79080" y="8980974"/>
            <a:ext cx="10410353" cy="1306026"/>
          </a:xfrm>
          <a:custGeom>
            <a:avLst/>
            <a:gdLst/>
            <a:ahLst/>
            <a:cxnLst/>
            <a:rect r="r" b="b" t="t" l="l"/>
            <a:pathLst>
              <a:path h="1306026" w="10410353">
                <a:moveTo>
                  <a:pt x="0" y="0"/>
                </a:moveTo>
                <a:lnTo>
                  <a:pt x="10410353" y="0"/>
                </a:lnTo>
                <a:lnTo>
                  <a:pt x="10410353" y="1306026"/>
                </a:lnTo>
                <a:lnTo>
                  <a:pt x="0" y="13060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054124" y="4614"/>
            <a:ext cx="10410353" cy="1306026"/>
          </a:xfrm>
          <a:custGeom>
            <a:avLst/>
            <a:gdLst/>
            <a:ahLst/>
            <a:cxnLst/>
            <a:rect r="r" b="b" t="t" l="l"/>
            <a:pathLst>
              <a:path h="1306026" w="10410353">
                <a:moveTo>
                  <a:pt x="0" y="1306026"/>
                </a:moveTo>
                <a:lnTo>
                  <a:pt x="10410352" y="1306026"/>
                </a:lnTo>
                <a:lnTo>
                  <a:pt x="10410352" y="0"/>
                </a:lnTo>
                <a:lnTo>
                  <a:pt x="0" y="0"/>
                </a:lnTo>
                <a:lnTo>
                  <a:pt x="0" y="130602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328773" y="5667375"/>
            <a:ext cx="437223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spc="23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Obrigado Pela Atenção!!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02694" y="4340104"/>
            <a:ext cx="9552773" cy="80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8"/>
              </a:lnSpc>
            </a:pPr>
            <a:r>
              <a:rPr lang="en-US" sz="471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Perguntas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DAHKocV2_0Q</dc:identifier>
  <dcterms:modified xsi:type="dcterms:W3CDTF">2011-08-01T06:04:30Z</dcterms:modified>
  <cp:revision>1</cp:revision>
  <dc:title>notas de matemática no ENEM</dc:title>
</cp:coreProperties>
</file>